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8" r:id="rId5"/>
    <p:sldId id="269" r:id="rId6"/>
    <p:sldId id="270" r:id="rId7"/>
    <p:sldId id="271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183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Slide Background Fill">
            <a:extLst>
              <a:ext uri="{FF2B5EF4-FFF2-40B4-BE49-F238E27FC236}">
                <a16:creationId xmlns:a16="http://schemas.microsoft.com/office/drawing/2014/main" id="{C3420C89-0B09-4632-A4AF-3971D08BF7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Color Cover">
            <a:extLst>
              <a:ext uri="{FF2B5EF4-FFF2-40B4-BE49-F238E27FC236}">
                <a16:creationId xmlns:a16="http://schemas.microsoft.com/office/drawing/2014/main" id="{4E5CBA61-BF74-40B4-A3A8-366BBA626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AC27E70C-5470-4262-B9CE-AE52C51CF4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929"/>
            <a:ext cx="9141714" cy="3490956"/>
            <a:chOff x="651279" y="598259"/>
            <a:chExt cx="10889442" cy="5680742"/>
          </a:xfrm>
        </p:grpSpPr>
        <p:sp>
          <p:nvSpPr>
            <p:cNvPr id="44" name="Color">
              <a:extLst>
                <a:ext uri="{FF2B5EF4-FFF2-40B4-BE49-F238E27FC236}">
                  <a16:creationId xmlns:a16="http://schemas.microsoft.com/office/drawing/2014/main" id="{B5C7D35F-738C-47DF-AD6E-859806E46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Color">
              <a:extLst>
                <a:ext uri="{FF2B5EF4-FFF2-40B4-BE49-F238E27FC236}">
                  <a16:creationId xmlns:a16="http://schemas.microsoft.com/office/drawing/2014/main" id="{740F8C8B-E52F-46CF-89C7-51C6A037CF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6B01828B-8276-A359-A2E7-3FD0FFE12E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102735" y="2244969"/>
            <a:ext cx="3547660" cy="2368062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788" y="841249"/>
            <a:ext cx="4269714" cy="258713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6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Peripheral Inflammation, Amyloid Pathology, and Cognitive Decline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787" y="3566810"/>
            <a:ext cx="4269715" cy="265111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spcBef>
                <a:spcPts val="1000"/>
              </a:spcBef>
              <a:buNone/>
            </a:pPr>
            <a:r>
              <a: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BIOS 6624 Presentation</a:t>
            </a:r>
          </a:p>
          <a:p>
            <a:pPr marL="0" indent="0" defTabSz="914400">
              <a:spcBef>
                <a:spcPts val="1000"/>
              </a:spcBef>
              <a:buNone/>
            </a:pPr>
            <a:r>
              <a:rPr lang="en-US" sz="1600">
                <a:solidFill>
                  <a:schemeClr val="tx2"/>
                </a:solidFill>
              </a:rPr>
              <a:t>Mojde Mir</a:t>
            </a:r>
            <a:endParaRPr lang="en-US" sz="1600" kern="120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6A8AAC95-3719-4BCD-B710-4160043D92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3A6D7BA-50E4-42FE-A0E3-FC42B7EC43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767722"/>
            <a:ext cx="2266158" cy="1532055"/>
          </a:xfrm>
          <a:custGeom>
            <a:avLst/>
            <a:gdLst>
              <a:gd name="connsiteX0" fmla="*/ 3021543 w 3021543"/>
              <a:gd name="connsiteY0" fmla="*/ 0 h 1532055"/>
              <a:gd name="connsiteX1" fmla="*/ 2963800 w 3021543"/>
              <a:gd name="connsiteY1" fmla="*/ 7730 h 1532055"/>
              <a:gd name="connsiteX2" fmla="*/ 2793803 w 3021543"/>
              <a:gd name="connsiteY2" fmla="*/ 25704 h 1532055"/>
              <a:gd name="connsiteX3" fmla="*/ 2414348 w 3021543"/>
              <a:gd name="connsiteY3" fmla="*/ 31695 h 1532055"/>
              <a:gd name="connsiteX4" fmla="*/ 2091558 w 3021543"/>
              <a:gd name="connsiteY4" fmla="*/ 29298 h 1532055"/>
              <a:gd name="connsiteX5" fmla="*/ 1645319 w 3021543"/>
              <a:gd name="connsiteY5" fmla="*/ 30497 h 1532055"/>
              <a:gd name="connsiteX6" fmla="*/ 1243602 w 3021543"/>
              <a:gd name="connsiteY6" fmla="*/ 64048 h 1532055"/>
              <a:gd name="connsiteX7" fmla="*/ 753851 w 3021543"/>
              <a:gd name="connsiteY7" fmla="*/ 61651 h 1532055"/>
              <a:gd name="connsiteX8" fmla="*/ 465465 w 3021543"/>
              <a:gd name="connsiteY8" fmla="*/ 123960 h 1532055"/>
              <a:gd name="connsiteX9" fmla="*/ 546416 w 3021543"/>
              <a:gd name="connsiteY9" fmla="*/ 145529 h 1532055"/>
              <a:gd name="connsiteX10" fmla="*/ 689091 w 3021543"/>
              <a:gd name="connsiteY10" fmla="*/ 192260 h 1532055"/>
              <a:gd name="connsiteX11" fmla="*/ 704269 w 3021543"/>
              <a:gd name="connsiteY11" fmla="*/ 222217 h 1532055"/>
              <a:gd name="connsiteX12" fmla="*/ 683020 w 3021543"/>
              <a:gd name="connsiteY12" fmla="*/ 236595 h 1532055"/>
              <a:gd name="connsiteX13" fmla="*/ 621295 w 3021543"/>
              <a:gd name="connsiteY13" fmla="*/ 264155 h 1532055"/>
              <a:gd name="connsiteX14" fmla="*/ 848968 w 3021543"/>
              <a:gd name="connsiteY14" fmla="*/ 304896 h 1532055"/>
              <a:gd name="connsiteX15" fmla="*/ 768018 w 3021543"/>
              <a:gd name="connsiteY15" fmla="*/ 330059 h 1532055"/>
              <a:gd name="connsiteX16" fmla="*/ 684032 w 3021543"/>
              <a:gd name="connsiteY16" fmla="*/ 348032 h 1532055"/>
              <a:gd name="connsiteX17" fmla="*/ 592962 w 3021543"/>
              <a:gd name="connsiteY17" fmla="*/ 361213 h 1532055"/>
              <a:gd name="connsiteX18" fmla="*/ 509988 w 3021543"/>
              <a:gd name="connsiteY18" fmla="*/ 387575 h 1532055"/>
              <a:gd name="connsiteX19" fmla="*/ 726531 w 3021543"/>
              <a:gd name="connsiteY19" fmla="*/ 398359 h 1532055"/>
              <a:gd name="connsiteX20" fmla="*/ 614212 w 3021543"/>
              <a:gd name="connsiteY20" fmla="*/ 422324 h 1532055"/>
              <a:gd name="connsiteX21" fmla="*/ 522131 w 3021543"/>
              <a:gd name="connsiteY21" fmla="*/ 453478 h 1532055"/>
              <a:gd name="connsiteX22" fmla="*/ 457370 w 3021543"/>
              <a:gd name="connsiteY22" fmla="*/ 467857 h 1532055"/>
              <a:gd name="connsiteX23" fmla="*/ 388562 w 3021543"/>
              <a:gd name="connsiteY23" fmla="*/ 471452 h 1532055"/>
              <a:gd name="connsiteX24" fmla="*/ 372372 w 3021543"/>
              <a:gd name="connsiteY24" fmla="*/ 494218 h 1532055"/>
              <a:gd name="connsiteX25" fmla="*/ 393622 w 3021543"/>
              <a:gd name="connsiteY25" fmla="*/ 518184 h 1532055"/>
              <a:gd name="connsiteX26" fmla="*/ 426002 w 3021543"/>
              <a:gd name="connsiteY26" fmla="*/ 520580 h 1532055"/>
              <a:gd name="connsiteX27" fmla="*/ 619271 w 3021543"/>
              <a:gd name="connsiteY27" fmla="*/ 526571 h 1532055"/>
              <a:gd name="connsiteX28" fmla="*/ 0 w 3021543"/>
              <a:gd name="connsiteY28" fmla="*/ 579294 h 1532055"/>
              <a:gd name="connsiteX29" fmla="*/ 83986 w 3021543"/>
              <a:gd name="connsiteY29" fmla="*/ 611647 h 1532055"/>
              <a:gd name="connsiteX30" fmla="*/ 112319 w 3021543"/>
              <a:gd name="connsiteY30" fmla="*/ 700317 h 1532055"/>
              <a:gd name="connsiteX31" fmla="*/ 215531 w 3021543"/>
              <a:gd name="connsiteY31" fmla="*/ 750643 h 1532055"/>
              <a:gd name="connsiteX32" fmla="*/ 282315 w 3021543"/>
              <a:gd name="connsiteY32" fmla="*/ 768617 h 1532055"/>
              <a:gd name="connsiteX33" fmla="*/ 435109 w 3021543"/>
              <a:gd name="connsiteY33" fmla="*/ 794979 h 1532055"/>
              <a:gd name="connsiteX34" fmla="*/ 457370 w 3021543"/>
              <a:gd name="connsiteY34" fmla="*/ 838116 h 1532055"/>
              <a:gd name="connsiteX35" fmla="*/ 476596 w 3021543"/>
              <a:gd name="connsiteY35" fmla="*/ 886046 h 1532055"/>
              <a:gd name="connsiteX36" fmla="*/ 517071 w 3021543"/>
              <a:gd name="connsiteY36" fmla="*/ 917200 h 1532055"/>
              <a:gd name="connsiteX37" fmla="*/ 202377 w 3021543"/>
              <a:gd name="connsiteY37" fmla="*/ 912407 h 1532055"/>
              <a:gd name="connsiteX38" fmla="*/ 557546 w 3021543"/>
              <a:gd name="connsiteY38" fmla="*/ 1013060 h 1532055"/>
              <a:gd name="connsiteX39" fmla="*/ 526178 w 3021543"/>
              <a:gd name="connsiteY39" fmla="*/ 1052602 h 1532055"/>
              <a:gd name="connsiteX40" fmla="*/ 720459 w 3021543"/>
              <a:gd name="connsiteY40" fmla="*/ 1106523 h 1532055"/>
              <a:gd name="connsiteX41" fmla="*/ 616236 w 3021543"/>
              <a:gd name="connsiteY41" fmla="*/ 1112514 h 1532055"/>
              <a:gd name="connsiteX42" fmla="*/ 1222353 w 3021543"/>
              <a:gd name="connsiteY42" fmla="*/ 1337785 h 1532055"/>
              <a:gd name="connsiteX43" fmla="*/ 2087511 w 3021543"/>
              <a:gd name="connsiteY43" fmla="*/ 1500747 h 1532055"/>
              <a:gd name="connsiteX44" fmla="*/ 2425479 w 3021543"/>
              <a:gd name="connsiteY44" fmla="*/ 1531901 h 1532055"/>
              <a:gd name="connsiteX45" fmla="*/ 2809994 w 3021543"/>
              <a:gd name="connsiteY45" fmla="*/ 1522315 h 1532055"/>
              <a:gd name="connsiteX46" fmla="*/ 2953618 w 3021543"/>
              <a:gd name="connsiteY46" fmla="*/ 1512448 h 1532055"/>
              <a:gd name="connsiteX47" fmla="*/ 3021543 w 3021543"/>
              <a:gd name="connsiteY47" fmla="*/ 1502657 h 1532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532055">
                <a:moveTo>
                  <a:pt x="3021543" y="0"/>
                </a:moveTo>
                <a:lnTo>
                  <a:pt x="2963800" y="7730"/>
                </a:lnTo>
                <a:cubicBezTo>
                  <a:pt x="2907134" y="14919"/>
                  <a:pt x="2850469" y="24506"/>
                  <a:pt x="2793803" y="25704"/>
                </a:cubicBezTo>
                <a:cubicBezTo>
                  <a:pt x="2667318" y="29298"/>
                  <a:pt x="2539821" y="20911"/>
                  <a:pt x="2414348" y="31695"/>
                </a:cubicBezTo>
                <a:cubicBezTo>
                  <a:pt x="2307089" y="41281"/>
                  <a:pt x="2198818" y="30497"/>
                  <a:pt x="2091558" y="29298"/>
                </a:cubicBezTo>
                <a:cubicBezTo>
                  <a:pt x="1942812" y="28100"/>
                  <a:pt x="1793053" y="19713"/>
                  <a:pt x="1645319" y="30497"/>
                </a:cubicBezTo>
                <a:cubicBezTo>
                  <a:pt x="1510738" y="38885"/>
                  <a:pt x="1376158" y="41281"/>
                  <a:pt x="1243602" y="64048"/>
                </a:cubicBezTo>
                <a:cubicBezTo>
                  <a:pt x="1079677" y="76030"/>
                  <a:pt x="916765" y="68841"/>
                  <a:pt x="753851" y="61651"/>
                </a:cubicBezTo>
                <a:cubicBezTo>
                  <a:pt x="653675" y="56858"/>
                  <a:pt x="554511" y="41281"/>
                  <a:pt x="465465" y="123960"/>
                </a:cubicBezTo>
                <a:cubicBezTo>
                  <a:pt x="489751" y="143132"/>
                  <a:pt x="519095" y="139537"/>
                  <a:pt x="546416" y="145529"/>
                </a:cubicBezTo>
                <a:cubicBezTo>
                  <a:pt x="594986" y="157511"/>
                  <a:pt x="643557" y="169493"/>
                  <a:pt x="689091" y="192260"/>
                </a:cubicBezTo>
                <a:cubicBezTo>
                  <a:pt x="699210" y="197053"/>
                  <a:pt x="708317" y="206639"/>
                  <a:pt x="704269" y="222217"/>
                </a:cubicBezTo>
                <a:cubicBezTo>
                  <a:pt x="701234" y="234199"/>
                  <a:pt x="691115" y="234199"/>
                  <a:pt x="683020" y="236595"/>
                </a:cubicBezTo>
                <a:cubicBezTo>
                  <a:pt x="664806" y="243785"/>
                  <a:pt x="642545" y="238992"/>
                  <a:pt x="621295" y="264155"/>
                </a:cubicBezTo>
                <a:cubicBezTo>
                  <a:pt x="702245" y="277336"/>
                  <a:pt x="780160" y="252172"/>
                  <a:pt x="848968" y="304896"/>
                </a:cubicBezTo>
                <a:cubicBezTo>
                  <a:pt x="823671" y="331257"/>
                  <a:pt x="795339" y="325266"/>
                  <a:pt x="768018" y="330059"/>
                </a:cubicBezTo>
                <a:cubicBezTo>
                  <a:pt x="739685" y="334852"/>
                  <a:pt x="712365" y="343240"/>
                  <a:pt x="684032" y="348032"/>
                </a:cubicBezTo>
                <a:cubicBezTo>
                  <a:pt x="653675" y="354023"/>
                  <a:pt x="623319" y="355222"/>
                  <a:pt x="592962" y="361213"/>
                </a:cubicBezTo>
                <a:cubicBezTo>
                  <a:pt x="567666" y="366006"/>
                  <a:pt x="540345" y="357618"/>
                  <a:pt x="509988" y="387575"/>
                </a:cubicBezTo>
                <a:cubicBezTo>
                  <a:pt x="584867" y="409143"/>
                  <a:pt x="652663" y="376790"/>
                  <a:pt x="726531" y="398359"/>
                </a:cubicBezTo>
                <a:cubicBezTo>
                  <a:pt x="683020" y="417531"/>
                  <a:pt x="647604" y="411539"/>
                  <a:pt x="614212" y="422324"/>
                </a:cubicBezTo>
                <a:cubicBezTo>
                  <a:pt x="583855" y="433108"/>
                  <a:pt x="547428" y="421126"/>
                  <a:pt x="522131" y="453478"/>
                </a:cubicBezTo>
                <a:cubicBezTo>
                  <a:pt x="502905" y="478641"/>
                  <a:pt x="482668" y="482236"/>
                  <a:pt x="457370" y="467857"/>
                </a:cubicBezTo>
                <a:cubicBezTo>
                  <a:pt x="435109" y="454676"/>
                  <a:pt x="410824" y="458271"/>
                  <a:pt x="388562" y="471452"/>
                </a:cubicBezTo>
                <a:cubicBezTo>
                  <a:pt x="380468" y="476245"/>
                  <a:pt x="372372" y="482236"/>
                  <a:pt x="372372" y="494218"/>
                </a:cubicBezTo>
                <a:cubicBezTo>
                  <a:pt x="372372" y="510994"/>
                  <a:pt x="382491" y="515787"/>
                  <a:pt x="393622" y="518184"/>
                </a:cubicBezTo>
                <a:cubicBezTo>
                  <a:pt x="403741" y="520580"/>
                  <a:pt x="415883" y="522977"/>
                  <a:pt x="426002" y="520580"/>
                </a:cubicBezTo>
                <a:cubicBezTo>
                  <a:pt x="490762" y="507399"/>
                  <a:pt x="554511" y="528968"/>
                  <a:pt x="619271" y="526571"/>
                </a:cubicBezTo>
                <a:cubicBezTo>
                  <a:pt x="415883" y="578096"/>
                  <a:pt x="210471" y="561321"/>
                  <a:pt x="0" y="579294"/>
                </a:cubicBezTo>
                <a:cubicBezTo>
                  <a:pt x="27321" y="615241"/>
                  <a:pt x="62737" y="585286"/>
                  <a:pt x="83986" y="611647"/>
                </a:cubicBezTo>
                <a:cubicBezTo>
                  <a:pt x="63748" y="666766"/>
                  <a:pt x="71844" y="696722"/>
                  <a:pt x="112319" y="700317"/>
                </a:cubicBezTo>
                <a:cubicBezTo>
                  <a:pt x="151782" y="703912"/>
                  <a:pt x="194281" y="684740"/>
                  <a:pt x="215531" y="750643"/>
                </a:cubicBezTo>
                <a:cubicBezTo>
                  <a:pt x="221602" y="771014"/>
                  <a:pt x="259042" y="765023"/>
                  <a:pt x="282315" y="768617"/>
                </a:cubicBezTo>
                <a:cubicBezTo>
                  <a:pt x="332909" y="777005"/>
                  <a:pt x="386539" y="768617"/>
                  <a:pt x="435109" y="794979"/>
                </a:cubicBezTo>
                <a:cubicBezTo>
                  <a:pt x="454335" y="804565"/>
                  <a:pt x="467489" y="811754"/>
                  <a:pt x="457370" y="838116"/>
                </a:cubicBezTo>
                <a:cubicBezTo>
                  <a:pt x="447252" y="865675"/>
                  <a:pt x="460406" y="875261"/>
                  <a:pt x="476596" y="886046"/>
                </a:cubicBezTo>
                <a:cubicBezTo>
                  <a:pt x="488739" y="894433"/>
                  <a:pt x="506953" y="892037"/>
                  <a:pt x="517071" y="917200"/>
                </a:cubicBezTo>
                <a:cubicBezTo>
                  <a:pt x="410824" y="913605"/>
                  <a:pt x="307612" y="893235"/>
                  <a:pt x="202377" y="912407"/>
                </a:cubicBezTo>
                <a:cubicBezTo>
                  <a:pt x="317731" y="960337"/>
                  <a:pt x="444216" y="957940"/>
                  <a:pt x="557546" y="1013060"/>
                </a:cubicBezTo>
                <a:cubicBezTo>
                  <a:pt x="553499" y="1032232"/>
                  <a:pt x="527190" y="1023844"/>
                  <a:pt x="526178" y="1052602"/>
                </a:cubicBezTo>
                <a:cubicBezTo>
                  <a:pt x="585879" y="1082558"/>
                  <a:pt x="657723" y="1062188"/>
                  <a:pt x="720459" y="1106523"/>
                </a:cubicBezTo>
                <a:cubicBezTo>
                  <a:pt x="684032" y="1126893"/>
                  <a:pt x="650640" y="1093342"/>
                  <a:pt x="616236" y="1112514"/>
                </a:cubicBezTo>
                <a:cubicBezTo>
                  <a:pt x="627367" y="1141273"/>
                  <a:pt x="1131283" y="1318613"/>
                  <a:pt x="1222353" y="1337785"/>
                </a:cubicBezTo>
                <a:cubicBezTo>
                  <a:pt x="1407527" y="1377327"/>
                  <a:pt x="1940788" y="1477980"/>
                  <a:pt x="2087511" y="1500747"/>
                </a:cubicBezTo>
                <a:cubicBezTo>
                  <a:pt x="2200841" y="1517522"/>
                  <a:pt x="2313160" y="1530703"/>
                  <a:pt x="2425479" y="1531901"/>
                </a:cubicBezTo>
                <a:cubicBezTo>
                  <a:pt x="2553988" y="1533099"/>
                  <a:pt x="2681485" y="1527108"/>
                  <a:pt x="2809994" y="1522315"/>
                </a:cubicBezTo>
                <a:cubicBezTo>
                  <a:pt x="2858058" y="1520518"/>
                  <a:pt x="2905933" y="1517372"/>
                  <a:pt x="2953618" y="1512448"/>
                </a:cubicBezTo>
                <a:lnTo>
                  <a:pt x="3021543" y="1502657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838199"/>
            <a:ext cx="3143250" cy="5338763"/>
          </a:xfrm>
        </p:spPr>
        <p:txBody>
          <a:bodyPr>
            <a:normAutofit/>
          </a:bodyPr>
          <a:lstStyle/>
          <a:p>
            <a:r>
              <a:rPr lang="en-US"/>
              <a:t>Aim 1: Analysis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6749" y="323850"/>
            <a:ext cx="4538601" cy="621029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400" b="1" dirty="0"/>
              <a:t>Research Question: </a:t>
            </a:r>
            <a:r>
              <a:rPr lang="en-US" sz="1400" dirty="0"/>
              <a:t>Do peripheral inflammatory markers predict one-year decline in episodic memory and cortical thickness?</a:t>
            </a:r>
          </a:p>
          <a:p>
            <a:pPr marL="0" indent="0">
              <a:lnSpc>
                <a:spcPct val="90000"/>
              </a:lnSpc>
              <a:buNone/>
            </a:pPr>
            <a:endParaRPr lang="en-US" sz="1400" dirty="0"/>
          </a:p>
          <a:p>
            <a:pPr>
              <a:lnSpc>
                <a:spcPct val="90000"/>
              </a:lnSpc>
            </a:pPr>
            <a:r>
              <a:rPr lang="en-US" sz="1400" b="1" dirty="0"/>
              <a:t>Hypothesis: </a:t>
            </a:r>
            <a:r>
              <a:rPr lang="en-US" sz="1400" dirty="0"/>
              <a:t>Higher baseline levels and increase in inflammatory markers → greater decline in outcome</a:t>
            </a:r>
            <a:br>
              <a:rPr lang="en-US" sz="1400" dirty="0"/>
            </a:br>
            <a:endParaRPr lang="en-US" sz="14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400" b="1" dirty="0"/>
              <a:t>Predictors</a:t>
            </a:r>
          </a:p>
          <a:p>
            <a:pPr>
              <a:lnSpc>
                <a:spcPct val="90000"/>
              </a:lnSpc>
            </a:pPr>
            <a:r>
              <a:rPr lang="en-US" sz="1400" dirty="0"/>
              <a:t>Primary: IL-6, TNF-α, MCP-1, Eotaxin-1 </a:t>
            </a:r>
          </a:p>
          <a:p>
            <a:pPr>
              <a:lnSpc>
                <a:spcPct val="90000"/>
              </a:lnSpc>
            </a:pPr>
            <a:r>
              <a:rPr lang="en-US" sz="1400" dirty="0"/>
              <a:t>Additional markers → exploratory analyses </a:t>
            </a:r>
          </a:p>
          <a:p>
            <a:pPr marL="0" indent="0">
              <a:lnSpc>
                <a:spcPct val="90000"/>
              </a:lnSpc>
              <a:buNone/>
            </a:pPr>
            <a:endParaRPr lang="en-US" sz="14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400" b="1" dirty="0"/>
              <a:t>Methods</a:t>
            </a:r>
          </a:p>
          <a:p>
            <a:pPr>
              <a:lnSpc>
                <a:spcPct val="90000"/>
              </a:lnSpc>
            </a:pPr>
            <a:r>
              <a:rPr lang="en-US" sz="1400" dirty="0"/>
              <a:t>Linear regression of change scores </a:t>
            </a:r>
          </a:p>
          <a:p>
            <a:pPr>
              <a:lnSpc>
                <a:spcPct val="90000"/>
              </a:lnSpc>
            </a:pPr>
            <a:r>
              <a:rPr lang="en-US" sz="1400" dirty="0"/>
              <a:t>Each marker modeled separately (reduce collinearity) </a:t>
            </a:r>
          </a:p>
          <a:p>
            <a:pPr>
              <a:lnSpc>
                <a:spcPct val="90000"/>
              </a:lnSpc>
            </a:pPr>
            <a:r>
              <a:rPr lang="en-US" sz="1400" dirty="0"/>
              <a:t>Covariates: </a:t>
            </a:r>
          </a:p>
          <a:p>
            <a:pPr lvl="1">
              <a:lnSpc>
                <a:spcPct val="90000"/>
              </a:lnSpc>
            </a:pPr>
            <a:r>
              <a:rPr lang="en-US" sz="1400" dirty="0"/>
              <a:t>Age, sex (primary) </a:t>
            </a:r>
          </a:p>
          <a:p>
            <a:pPr lvl="1">
              <a:lnSpc>
                <a:spcPct val="90000"/>
              </a:lnSpc>
            </a:pPr>
            <a:r>
              <a:rPr lang="en-US" sz="1400" dirty="0"/>
              <a:t>Additional covariates (sensitivity analyses) </a:t>
            </a:r>
            <a:br>
              <a:rPr lang="en-US" sz="1400" dirty="0"/>
            </a:br>
            <a:endParaRPr lang="en-US" sz="14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400" b="1" dirty="0"/>
              <a:t>Interpretation Strategy</a:t>
            </a:r>
          </a:p>
          <a:p>
            <a:pPr>
              <a:lnSpc>
                <a:spcPct val="90000"/>
              </a:lnSpc>
            </a:pPr>
            <a:r>
              <a:rPr lang="en-US" sz="1400" dirty="0"/>
              <a:t>Focus on: </a:t>
            </a:r>
          </a:p>
          <a:p>
            <a:pPr lvl="1">
              <a:lnSpc>
                <a:spcPct val="90000"/>
              </a:lnSpc>
            </a:pPr>
            <a:r>
              <a:rPr lang="en-US" sz="1400" dirty="0"/>
              <a:t>consistency of direction </a:t>
            </a:r>
          </a:p>
          <a:p>
            <a:pPr lvl="1">
              <a:lnSpc>
                <a:spcPct val="90000"/>
              </a:lnSpc>
            </a:pPr>
            <a:r>
              <a:rPr lang="en-US" sz="1400" dirty="0"/>
              <a:t>magnitude of effects </a:t>
            </a:r>
          </a:p>
          <a:p>
            <a:pPr>
              <a:lnSpc>
                <a:spcPct val="90000"/>
              </a:lnSpc>
            </a:pPr>
            <a:r>
              <a:rPr lang="en-US" sz="1400" dirty="0"/>
              <a:t>Not just individual p-values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6A8AAC95-3719-4BCD-B710-4160043D92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3A6D7BA-50E4-42FE-A0E3-FC42B7EC43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767722"/>
            <a:ext cx="2266158" cy="1532055"/>
          </a:xfrm>
          <a:custGeom>
            <a:avLst/>
            <a:gdLst>
              <a:gd name="connsiteX0" fmla="*/ 3021543 w 3021543"/>
              <a:gd name="connsiteY0" fmla="*/ 0 h 1532055"/>
              <a:gd name="connsiteX1" fmla="*/ 2963800 w 3021543"/>
              <a:gd name="connsiteY1" fmla="*/ 7730 h 1532055"/>
              <a:gd name="connsiteX2" fmla="*/ 2793803 w 3021543"/>
              <a:gd name="connsiteY2" fmla="*/ 25704 h 1532055"/>
              <a:gd name="connsiteX3" fmla="*/ 2414348 w 3021543"/>
              <a:gd name="connsiteY3" fmla="*/ 31695 h 1532055"/>
              <a:gd name="connsiteX4" fmla="*/ 2091558 w 3021543"/>
              <a:gd name="connsiteY4" fmla="*/ 29298 h 1532055"/>
              <a:gd name="connsiteX5" fmla="*/ 1645319 w 3021543"/>
              <a:gd name="connsiteY5" fmla="*/ 30497 h 1532055"/>
              <a:gd name="connsiteX6" fmla="*/ 1243602 w 3021543"/>
              <a:gd name="connsiteY6" fmla="*/ 64048 h 1532055"/>
              <a:gd name="connsiteX7" fmla="*/ 753851 w 3021543"/>
              <a:gd name="connsiteY7" fmla="*/ 61651 h 1532055"/>
              <a:gd name="connsiteX8" fmla="*/ 465465 w 3021543"/>
              <a:gd name="connsiteY8" fmla="*/ 123960 h 1532055"/>
              <a:gd name="connsiteX9" fmla="*/ 546416 w 3021543"/>
              <a:gd name="connsiteY9" fmla="*/ 145529 h 1532055"/>
              <a:gd name="connsiteX10" fmla="*/ 689091 w 3021543"/>
              <a:gd name="connsiteY10" fmla="*/ 192260 h 1532055"/>
              <a:gd name="connsiteX11" fmla="*/ 704269 w 3021543"/>
              <a:gd name="connsiteY11" fmla="*/ 222217 h 1532055"/>
              <a:gd name="connsiteX12" fmla="*/ 683020 w 3021543"/>
              <a:gd name="connsiteY12" fmla="*/ 236595 h 1532055"/>
              <a:gd name="connsiteX13" fmla="*/ 621295 w 3021543"/>
              <a:gd name="connsiteY13" fmla="*/ 264155 h 1532055"/>
              <a:gd name="connsiteX14" fmla="*/ 848968 w 3021543"/>
              <a:gd name="connsiteY14" fmla="*/ 304896 h 1532055"/>
              <a:gd name="connsiteX15" fmla="*/ 768018 w 3021543"/>
              <a:gd name="connsiteY15" fmla="*/ 330059 h 1532055"/>
              <a:gd name="connsiteX16" fmla="*/ 684032 w 3021543"/>
              <a:gd name="connsiteY16" fmla="*/ 348032 h 1532055"/>
              <a:gd name="connsiteX17" fmla="*/ 592962 w 3021543"/>
              <a:gd name="connsiteY17" fmla="*/ 361213 h 1532055"/>
              <a:gd name="connsiteX18" fmla="*/ 509988 w 3021543"/>
              <a:gd name="connsiteY18" fmla="*/ 387575 h 1532055"/>
              <a:gd name="connsiteX19" fmla="*/ 726531 w 3021543"/>
              <a:gd name="connsiteY19" fmla="*/ 398359 h 1532055"/>
              <a:gd name="connsiteX20" fmla="*/ 614212 w 3021543"/>
              <a:gd name="connsiteY20" fmla="*/ 422324 h 1532055"/>
              <a:gd name="connsiteX21" fmla="*/ 522131 w 3021543"/>
              <a:gd name="connsiteY21" fmla="*/ 453478 h 1532055"/>
              <a:gd name="connsiteX22" fmla="*/ 457370 w 3021543"/>
              <a:gd name="connsiteY22" fmla="*/ 467857 h 1532055"/>
              <a:gd name="connsiteX23" fmla="*/ 388562 w 3021543"/>
              <a:gd name="connsiteY23" fmla="*/ 471452 h 1532055"/>
              <a:gd name="connsiteX24" fmla="*/ 372372 w 3021543"/>
              <a:gd name="connsiteY24" fmla="*/ 494218 h 1532055"/>
              <a:gd name="connsiteX25" fmla="*/ 393622 w 3021543"/>
              <a:gd name="connsiteY25" fmla="*/ 518184 h 1532055"/>
              <a:gd name="connsiteX26" fmla="*/ 426002 w 3021543"/>
              <a:gd name="connsiteY26" fmla="*/ 520580 h 1532055"/>
              <a:gd name="connsiteX27" fmla="*/ 619271 w 3021543"/>
              <a:gd name="connsiteY27" fmla="*/ 526571 h 1532055"/>
              <a:gd name="connsiteX28" fmla="*/ 0 w 3021543"/>
              <a:gd name="connsiteY28" fmla="*/ 579294 h 1532055"/>
              <a:gd name="connsiteX29" fmla="*/ 83986 w 3021543"/>
              <a:gd name="connsiteY29" fmla="*/ 611647 h 1532055"/>
              <a:gd name="connsiteX30" fmla="*/ 112319 w 3021543"/>
              <a:gd name="connsiteY30" fmla="*/ 700317 h 1532055"/>
              <a:gd name="connsiteX31" fmla="*/ 215531 w 3021543"/>
              <a:gd name="connsiteY31" fmla="*/ 750643 h 1532055"/>
              <a:gd name="connsiteX32" fmla="*/ 282315 w 3021543"/>
              <a:gd name="connsiteY32" fmla="*/ 768617 h 1532055"/>
              <a:gd name="connsiteX33" fmla="*/ 435109 w 3021543"/>
              <a:gd name="connsiteY33" fmla="*/ 794979 h 1532055"/>
              <a:gd name="connsiteX34" fmla="*/ 457370 w 3021543"/>
              <a:gd name="connsiteY34" fmla="*/ 838116 h 1532055"/>
              <a:gd name="connsiteX35" fmla="*/ 476596 w 3021543"/>
              <a:gd name="connsiteY35" fmla="*/ 886046 h 1532055"/>
              <a:gd name="connsiteX36" fmla="*/ 517071 w 3021543"/>
              <a:gd name="connsiteY36" fmla="*/ 917200 h 1532055"/>
              <a:gd name="connsiteX37" fmla="*/ 202377 w 3021543"/>
              <a:gd name="connsiteY37" fmla="*/ 912407 h 1532055"/>
              <a:gd name="connsiteX38" fmla="*/ 557546 w 3021543"/>
              <a:gd name="connsiteY38" fmla="*/ 1013060 h 1532055"/>
              <a:gd name="connsiteX39" fmla="*/ 526178 w 3021543"/>
              <a:gd name="connsiteY39" fmla="*/ 1052602 h 1532055"/>
              <a:gd name="connsiteX40" fmla="*/ 720459 w 3021543"/>
              <a:gd name="connsiteY40" fmla="*/ 1106523 h 1532055"/>
              <a:gd name="connsiteX41" fmla="*/ 616236 w 3021543"/>
              <a:gd name="connsiteY41" fmla="*/ 1112514 h 1532055"/>
              <a:gd name="connsiteX42" fmla="*/ 1222353 w 3021543"/>
              <a:gd name="connsiteY42" fmla="*/ 1337785 h 1532055"/>
              <a:gd name="connsiteX43" fmla="*/ 2087511 w 3021543"/>
              <a:gd name="connsiteY43" fmla="*/ 1500747 h 1532055"/>
              <a:gd name="connsiteX44" fmla="*/ 2425479 w 3021543"/>
              <a:gd name="connsiteY44" fmla="*/ 1531901 h 1532055"/>
              <a:gd name="connsiteX45" fmla="*/ 2809994 w 3021543"/>
              <a:gd name="connsiteY45" fmla="*/ 1522315 h 1532055"/>
              <a:gd name="connsiteX46" fmla="*/ 2953618 w 3021543"/>
              <a:gd name="connsiteY46" fmla="*/ 1512448 h 1532055"/>
              <a:gd name="connsiteX47" fmla="*/ 3021543 w 3021543"/>
              <a:gd name="connsiteY47" fmla="*/ 1502657 h 1532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532055">
                <a:moveTo>
                  <a:pt x="3021543" y="0"/>
                </a:moveTo>
                <a:lnTo>
                  <a:pt x="2963800" y="7730"/>
                </a:lnTo>
                <a:cubicBezTo>
                  <a:pt x="2907134" y="14919"/>
                  <a:pt x="2850469" y="24506"/>
                  <a:pt x="2793803" y="25704"/>
                </a:cubicBezTo>
                <a:cubicBezTo>
                  <a:pt x="2667318" y="29298"/>
                  <a:pt x="2539821" y="20911"/>
                  <a:pt x="2414348" y="31695"/>
                </a:cubicBezTo>
                <a:cubicBezTo>
                  <a:pt x="2307089" y="41281"/>
                  <a:pt x="2198818" y="30497"/>
                  <a:pt x="2091558" y="29298"/>
                </a:cubicBezTo>
                <a:cubicBezTo>
                  <a:pt x="1942812" y="28100"/>
                  <a:pt x="1793053" y="19713"/>
                  <a:pt x="1645319" y="30497"/>
                </a:cubicBezTo>
                <a:cubicBezTo>
                  <a:pt x="1510738" y="38885"/>
                  <a:pt x="1376158" y="41281"/>
                  <a:pt x="1243602" y="64048"/>
                </a:cubicBezTo>
                <a:cubicBezTo>
                  <a:pt x="1079677" y="76030"/>
                  <a:pt x="916765" y="68841"/>
                  <a:pt x="753851" y="61651"/>
                </a:cubicBezTo>
                <a:cubicBezTo>
                  <a:pt x="653675" y="56858"/>
                  <a:pt x="554511" y="41281"/>
                  <a:pt x="465465" y="123960"/>
                </a:cubicBezTo>
                <a:cubicBezTo>
                  <a:pt x="489751" y="143132"/>
                  <a:pt x="519095" y="139537"/>
                  <a:pt x="546416" y="145529"/>
                </a:cubicBezTo>
                <a:cubicBezTo>
                  <a:pt x="594986" y="157511"/>
                  <a:pt x="643557" y="169493"/>
                  <a:pt x="689091" y="192260"/>
                </a:cubicBezTo>
                <a:cubicBezTo>
                  <a:pt x="699210" y="197053"/>
                  <a:pt x="708317" y="206639"/>
                  <a:pt x="704269" y="222217"/>
                </a:cubicBezTo>
                <a:cubicBezTo>
                  <a:pt x="701234" y="234199"/>
                  <a:pt x="691115" y="234199"/>
                  <a:pt x="683020" y="236595"/>
                </a:cubicBezTo>
                <a:cubicBezTo>
                  <a:pt x="664806" y="243785"/>
                  <a:pt x="642545" y="238992"/>
                  <a:pt x="621295" y="264155"/>
                </a:cubicBezTo>
                <a:cubicBezTo>
                  <a:pt x="702245" y="277336"/>
                  <a:pt x="780160" y="252172"/>
                  <a:pt x="848968" y="304896"/>
                </a:cubicBezTo>
                <a:cubicBezTo>
                  <a:pt x="823671" y="331257"/>
                  <a:pt x="795339" y="325266"/>
                  <a:pt x="768018" y="330059"/>
                </a:cubicBezTo>
                <a:cubicBezTo>
                  <a:pt x="739685" y="334852"/>
                  <a:pt x="712365" y="343240"/>
                  <a:pt x="684032" y="348032"/>
                </a:cubicBezTo>
                <a:cubicBezTo>
                  <a:pt x="653675" y="354023"/>
                  <a:pt x="623319" y="355222"/>
                  <a:pt x="592962" y="361213"/>
                </a:cubicBezTo>
                <a:cubicBezTo>
                  <a:pt x="567666" y="366006"/>
                  <a:pt x="540345" y="357618"/>
                  <a:pt x="509988" y="387575"/>
                </a:cubicBezTo>
                <a:cubicBezTo>
                  <a:pt x="584867" y="409143"/>
                  <a:pt x="652663" y="376790"/>
                  <a:pt x="726531" y="398359"/>
                </a:cubicBezTo>
                <a:cubicBezTo>
                  <a:pt x="683020" y="417531"/>
                  <a:pt x="647604" y="411539"/>
                  <a:pt x="614212" y="422324"/>
                </a:cubicBezTo>
                <a:cubicBezTo>
                  <a:pt x="583855" y="433108"/>
                  <a:pt x="547428" y="421126"/>
                  <a:pt x="522131" y="453478"/>
                </a:cubicBezTo>
                <a:cubicBezTo>
                  <a:pt x="502905" y="478641"/>
                  <a:pt x="482668" y="482236"/>
                  <a:pt x="457370" y="467857"/>
                </a:cubicBezTo>
                <a:cubicBezTo>
                  <a:pt x="435109" y="454676"/>
                  <a:pt x="410824" y="458271"/>
                  <a:pt x="388562" y="471452"/>
                </a:cubicBezTo>
                <a:cubicBezTo>
                  <a:pt x="380468" y="476245"/>
                  <a:pt x="372372" y="482236"/>
                  <a:pt x="372372" y="494218"/>
                </a:cubicBezTo>
                <a:cubicBezTo>
                  <a:pt x="372372" y="510994"/>
                  <a:pt x="382491" y="515787"/>
                  <a:pt x="393622" y="518184"/>
                </a:cubicBezTo>
                <a:cubicBezTo>
                  <a:pt x="403741" y="520580"/>
                  <a:pt x="415883" y="522977"/>
                  <a:pt x="426002" y="520580"/>
                </a:cubicBezTo>
                <a:cubicBezTo>
                  <a:pt x="490762" y="507399"/>
                  <a:pt x="554511" y="528968"/>
                  <a:pt x="619271" y="526571"/>
                </a:cubicBezTo>
                <a:cubicBezTo>
                  <a:pt x="415883" y="578096"/>
                  <a:pt x="210471" y="561321"/>
                  <a:pt x="0" y="579294"/>
                </a:cubicBezTo>
                <a:cubicBezTo>
                  <a:pt x="27321" y="615241"/>
                  <a:pt x="62737" y="585286"/>
                  <a:pt x="83986" y="611647"/>
                </a:cubicBezTo>
                <a:cubicBezTo>
                  <a:pt x="63748" y="666766"/>
                  <a:pt x="71844" y="696722"/>
                  <a:pt x="112319" y="700317"/>
                </a:cubicBezTo>
                <a:cubicBezTo>
                  <a:pt x="151782" y="703912"/>
                  <a:pt x="194281" y="684740"/>
                  <a:pt x="215531" y="750643"/>
                </a:cubicBezTo>
                <a:cubicBezTo>
                  <a:pt x="221602" y="771014"/>
                  <a:pt x="259042" y="765023"/>
                  <a:pt x="282315" y="768617"/>
                </a:cubicBezTo>
                <a:cubicBezTo>
                  <a:pt x="332909" y="777005"/>
                  <a:pt x="386539" y="768617"/>
                  <a:pt x="435109" y="794979"/>
                </a:cubicBezTo>
                <a:cubicBezTo>
                  <a:pt x="454335" y="804565"/>
                  <a:pt x="467489" y="811754"/>
                  <a:pt x="457370" y="838116"/>
                </a:cubicBezTo>
                <a:cubicBezTo>
                  <a:pt x="447252" y="865675"/>
                  <a:pt x="460406" y="875261"/>
                  <a:pt x="476596" y="886046"/>
                </a:cubicBezTo>
                <a:cubicBezTo>
                  <a:pt x="488739" y="894433"/>
                  <a:pt x="506953" y="892037"/>
                  <a:pt x="517071" y="917200"/>
                </a:cubicBezTo>
                <a:cubicBezTo>
                  <a:pt x="410824" y="913605"/>
                  <a:pt x="307612" y="893235"/>
                  <a:pt x="202377" y="912407"/>
                </a:cubicBezTo>
                <a:cubicBezTo>
                  <a:pt x="317731" y="960337"/>
                  <a:pt x="444216" y="957940"/>
                  <a:pt x="557546" y="1013060"/>
                </a:cubicBezTo>
                <a:cubicBezTo>
                  <a:pt x="553499" y="1032232"/>
                  <a:pt x="527190" y="1023844"/>
                  <a:pt x="526178" y="1052602"/>
                </a:cubicBezTo>
                <a:cubicBezTo>
                  <a:pt x="585879" y="1082558"/>
                  <a:pt x="657723" y="1062188"/>
                  <a:pt x="720459" y="1106523"/>
                </a:cubicBezTo>
                <a:cubicBezTo>
                  <a:pt x="684032" y="1126893"/>
                  <a:pt x="650640" y="1093342"/>
                  <a:pt x="616236" y="1112514"/>
                </a:cubicBezTo>
                <a:cubicBezTo>
                  <a:pt x="627367" y="1141273"/>
                  <a:pt x="1131283" y="1318613"/>
                  <a:pt x="1222353" y="1337785"/>
                </a:cubicBezTo>
                <a:cubicBezTo>
                  <a:pt x="1407527" y="1377327"/>
                  <a:pt x="1940788" y="1477980"/>
                  <a:pt x="2087511" y="1500747"/>
                </a:cubicBezTo>
                <a:cubicBezTo>
                  <a:pt x="2200841" y="1517522"/>
                  <a:pt x="2313160" y="1530703"/>
                  <a:pt x="2425479" y="1531901"/>
                </a:cubicBezTo>
                <a:cubicBezTo>
                  <a:pt x="2553988" y="1533099"/>
                  <a:pt x="2681485" y="1527108"/>
                  <a:pt x="2809994" y="1522315"/>
                </a:cubicBezTo>
                <a:cubicBezTo>
                  <a:pt x="2858058" y="1520518"/>
                  <a:pt x="2905933" y="1517372"/>
                  <a:pt x="2953618" y="1512448"/>
                </a:cubicBezTo>
                <a:lnTo>
                  <a:pt x="3021543" y="1502657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838199"/>
            <a:ext cx="3143250" cy="5338763"/>
          </a:xfrm>
        </p:spPr>
        <p:txBody>
          <a:bodyPr>
            <a:normAutofit/>
          </a:bodyPr>
          <a:lstStyle/>
          <a:p>
            <a:r>
              <a:rPr lang="en-US" dirty="0"/>
              <a:t>Aim 2: Analysis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6749" y="133351"/>
            <a:ext cx="4538601" cy="660082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400" b="1" dirty="0"/>
              <a:t>Research Question: </a:t>
            </a:r>
            <a:r>
              <a:rPr lang="en-US" sz="1400" dirty="0"/>
              <a:t>Does peripheral inflammation modify (moderate) the relationship between amyloid burden and cognitive and neurodegenerative decline? </a:t>
            </a:r>
          </a:p>
          <a:p>
            <a:pPr marL="0" indent="0">
              <a:lnSpc>
                <a:spcPct val="90000"/>
              </a:lnSpc>
              <a:buNone/>
            </a:pPr>
            <a:endParaRPr lang="en-US" sz="1400" dirty="0"/>
          </a:p>
          <a:p>
            <a:pPr>
              <a:lnSpc>
                <a:spcPct val="90000"/>
              </a:lnSpc>
            </a:pPr>
            <a:r>
              <a:rPr lang="en-US" sz="1400" b="1" dirty="0"/>
              <a:t>Hypothesis: </a:t>
            </a:r>
            <a:r>
              <a:rPr lang="en-US" sz="1400" dirty="0"/>
              <a:t>higher inflammation is associated with greater cognitive and neurodegenerative decline, and that this association is stronger at higher levels of amyloid burden</a:t>
            </a:r>
            <a:endParaRPr lang="en-US" sz="1400" b="1" dirty="0"/>
          </a:p>
          <a:p>
            <a:pPr marL="0" indent="0">
              <a:lnSpc>
                <a:spcPct val="90000"/>
              </a:lnSpc>
              <a:buNone/>
            </a:pPr>
            <a:endParaRPr lang="en-US" sz="14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400" b="1" dirty="0"/>
              <a:t>Amyloid Modeling</a:t>
            </a:r>
          </a:p>
          <a:p>
            <a:pPr>
              <a:lnSpc>
                <a:spcPct val="90000"/>
              </a:lnSpc>
            </a:pPr>
            <a:r>
              <a:rPr lang="en-US" sz="1400" dirty="0"/>
              <a:t>Primary: Continuous SUVR </a:t>
            </a:r>
          </a:p>
          <a:p>
            <a:pPr>
              <a:lnSpc>
                <a:spcPct val="90000"/>
              </a:lnSpc>
            </a:pPr>
            <a:r>
              <a:rPr lang="en-US" sz="1400" dirty="0"/>
              <a:t>Secondary: Amyloid-positive (SUVR ≥ 1.10) </a:t>
            </a:r>
            <a:br>
              <a:rPr lang="en-US" sz="1400" dirty="0"/>
            </a:br>
            <a:endParaRPr lang="en-US" sz="14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400" b="1" dirty="0"/>
              <a:t>Methods</a:t>
            </a:r>
          </a:p>
          <a:p>
            <a:pPr>
              <a:lnSpc>
                <a:spcPct val="90000"/>
              </a:lnSpc>
            </a:pPr>
            <a:r>
              <a:rPr lang="en-US" sz="1400" b="1" dirty="0"/>
              <a:t>Linear regression models</a:t>
            </a:r>
            <a:r>
              <a:rPr lang="en-US" sz="1400" dirty="0"/>
              <a:t> </a:t>
            </a:r>
          </a:p>
          <a:p>
            <a:pPr lvl="1">
              <a:lnSpc>
                <a:spcPct val="90000"/>
              </a:lnSpc>
            </a:pPr>
            <a:r>
              <a:rPr lang="en-US" sz="1400" dirty="0"/>
              <a:t>Amyloid </a:t>
            </a:r>
          </a:p>
          <a:p>
            <a:pPr lvl="1">
              <a:lnSpc>
                <a:spcPct val="90000"/>
              </a:lnSpc>
            </a:pPr>
            <a:r>
              <a:rPr lang="en-US" sz="1400" dirty="0"/>
              <a:t>Inflammation </a:t>
            </a:r>
          </a:p>
          <a:p>
            <a:pPr lvl="1">
              <a:lnSpc>
                <a:spcPct val="90000"/>
              </a:lnSpc>
            </a:pPr>
            <a:r>
              <a:rPr lang="en-US" sz="1400" dirty="0"/>
              <a:t>Amyloid × Inflammation interaction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400" dirty="0"/>
              <a:t> Interaction = difference in associations across amyloid levels</a:t>
            </a:r>
          </a:p>
          <a:p>
            <a:pPr marL="0" indent="0">
              <a:lnSpc>
                <a:spcPct val="90000"/>
              </a:lnSpc>
              <a:buNone/>
            </a:pPr>
            <a:br>
              <a:rPr lang="en-US" sz="1400" dirty="0"/>
            </a:br>
            <a:r>
              <a:rPr lang="en-US" sz="1400" b="1" dirty="0"/>
              <a:t>Interpretation</a:t>
            </a:r>
          </a:p>
          <a:p>
            <a:pPr>
              <a:lnSpc>
                <a:spcPct val="90000"/>
              </a:lnSpc>
            </a:pPr>
            <a:r>
              <a:rPr lang="en-US" sz="1400" dirty="0"/>
              <a:t>Significant interaction → examine: </a:t>
            </a:r>
          </a:p>
          <a:p>
            <a:pPr lvl="1">
              <a:lnSpc>
                <a:spcPct val="90000"/>
              </a:lnSpc>
            </a:pPr>
            <a:r>
              <a:rPr lang="en-US" sz="1400" dirty="0"/>
              <a:t>predicted values </a:t>
            </a:r>
          </a:p>
          <a:p>
            <a:pPr lvl="1">
              <a:lnSpc>
                <a:spcPct val="90000"/>
              </a:lnSpc>
            </a:pPr>
            <a:r>
              <a:rPr lang="en-US" sz="1400" dirty="0"/>
              <a:t>simple slopes </a:t>
            </a:r>
            <a:br>
              <a:rPr lang="en-US" sz="1400" dirty="0"/>
            </a:br>
            <a:endParaRPr lang="en-US" sz="14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400" b="1" dirty="0"/>
              <a:t>Covariates</a:t>
            </a:r>
          </a:p>
          <a:p>
            <a:pPr>
              <a:lnSpc>
                <a:spcPct val="90000"/>
              </a:lnSpc>
            </a:pPr>
            <a:r>
              <a:rPr lang="en-US" sz="1400" dirty="0"/>
              <a:t>Same as Aim 1 (age, sex, sensitivity analyses)</a:t>
            </a:r>
          </a:p>
          <a:p>
            <a:pPr>
              <a:lnSpc>
                <a:spcPct val="90000"/>
              </a:lnSpc>
            </a:pP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A8AAC95-3719-4BCD-B710-4160043D92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3A6D7BA-50E4-42FE-A0E3-FC42B7EC43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767722"/>
            <a:ext cx="2266158" cy="1532055"/>
          </a:xfrm>
          <a:custGeom>
            <a:avLst/>
            <a:gdLst>
              <a:gd name="connsiteX0" fmla="*/ 3021543 w 3021543"/>
              <a:gd name="connsiteY0" fmla="*/ 0 h 1532055"/>
              <a:gd name="connsiteX1" fmla="*/ 2963800 w 3021543"/>
              <a:gd name="connsiteY1" fmla="*/ 7730 h 1532055"/>
              <a:gd name="connsiteX2" fmla="*/ 2793803 w 3021543"/>
              <a:gd name="connsiteY2" fmla="*/ 25704 h 1532055"/>
              <a:gd name="connsiteX3" fmla="*/ 2414348 w 3021543"/>
              <a:gd name="connsiteY3" fmla="*/ 31695 h 1532055"/>
              <a:gd name="connsiteX4" fmla="*/ 2091558 w 3021543"/>
              <a:gd name="connsiteY4" fmla="*/ 29298 h 1532055"/>
              <a:gd name="connsiteX5" fmla="*/ 1645319 w 3021543"/>
              <a:gd name="connsiteY5" fmla="*/ 30497 h 1532055"/>
              <a:gd name="connsiteX6" fmla="*/ 1243602 w 3021543"/>
              <a:gd name="connsiteY6" fmla="*/ 64048 h 1532055"/>
              <a:gd name="connsiteX7" fmla="*/ 753851 w 3021543"/>
              <a:gd name="connsiteY7" fmla="*/ 61651 h 1532055"/>
              <a:gd name="connsiteX8" fmla="*/ 465465 w 3021543"/>
              <a:gd name="connsiteY8" fmla="*/ 123960 h 1532055"/>
              <a:gd name="connsiteX9" fmla="*/ 546416 w 3021543"/>
              <a:gd name="connsiteY9" fmla="*/ 145529 h 1532055"/>
              <a:gd name="connsiteX10" fmla="*/ 689091 w 3021543"/>
              <a:gd name="connsiteY10" fmla="*/ 192260 h 1532055"/>
              <a:gd name="connsiteX11" fmla="*/ 704269 w 3021543"/>
              <a:gd name="connsiteY11" fmla="*/ 222217 h 1532055"/>
              <a:gd name="connsiteX12" fmla="*/ 683020 w 3021543"/>
              <a:gd name="connsiteY12" fmla="*/ 236595 h 1532055"/>
              <a:gd name="connsiteX13" fmla="*/ 621295 w 3021543"/>
              <a:gd name="connsiteY13" fmla="*/ 264155 h 1532055"/>
              <a:gd name="connsiteX14" fmla="*/ 848968 w 3021543"/>
              <a:gd name="connsiteY14" fmla="*/ 304896 h 1532055"/>
              <a:gd name="connsiteX15" fmla="*/ 768018 w 3021543"/>
              <a:gd name="connsiteY15" fmla="*/ 330059 h 1532055"/>
              <a:gd name="connsiteX16" fmla="*/ 684032 w 3021543"/>
              <a:gd name="connsiteY16" fmla="*/ 348032 h 1532055"/>
              <a:gd name="connsiteX17" fmla="*/ 592962 w 3021543"/>
              <a:gd name="connsiteY17" fmla="*/ 361213 h 1532055"/>
              <a:gd name="connsiteX18" fmla="*/ 509988 w 3021543"/>
              <a:gd name="connsiteY18" fmla="*/ 387575 h 1532055"/>
              <a:gd name="connsiteX19" fmla="*/ 726531 w 3021543"/>
              <a:gd name="connsiteY19" fmla="*/ 398359 h 1532055"/>
              <a:gd name="connsiteX20" fmla="*/ 614212 w 3021543"/>
              <a:gd name="connsiteY20" fmla="*/ 422324 h 1532055"/>
              <a:gd name="connsiteX21" fmla="*/ 522131 w 3021543"/>
              <a:gd name="connsiteY21" fmla="*/ 453478 h 1532055"/>
              <a:gd name="connsiteX22" fmla="*/ 457370 w 3021543"/>
              <a:gd name="connsiteY22" fmla="*/ 467857 h 1532055"/>
              <a:gd name="connsiteX23" fmla="*/ 388562 w 3021543"/>
              <a:gd name="connsiteY23" fmla="*/ 471452 h 1532055"/>
              <a:gd name="connsiteX24" fmla="*/ 372372 w 3021543"/>
              <a:gd name="connsiteY24" fmla="*/ 494218 h 1532055"/>
              <a:gd name="connsiteX25" fmla="*/ 393622 w 3021543"/>
              <a:gd name="connsiteY25" fmla="*/ 518184 h 1532055"/>
              <a:gd name="connsiteX26" fmla="*/ 426002 w 3021543"/>
              <a:gd name="connsiteY26" fmla="*/ 520580 h 1532055"/>
              <a:gd name="connsiteX27" fmla="*/ 619271 w 3021543"/>
              <a:gd name="connsiteY27" fmla="*/ 526571 h 1532055"/>
              <a:gd name="connsiteX28" fmla="*/ 0 w 3021543"/>
              <a:gd name="connsiteY28" fmla="*/ 579294 h 1532055"/>
              <a:gd name="connsiteX29" fmla="*/ 83986 w 3021543"/>
              <a:gd name="connsiteY29" fmla="*/ 611647 h 1532055"/>
              <a:gd name="connsiteX30" fmla="*/ 112319 w 3021543"/>
              <a:gd name="connsiteY30" fmla="*/ 700317 h 1532055"/>
              <a:gd name="connsiteX31" fmla="*/ 215531 w 3021543"/>
              <a:gd name="connsiteY31" fmla="*/ 750643 h 1532055"/>
              <a:gd name="connsiteX32" fmla="*/ 282315 w 3021543"/>
              <a:gd name="connsiteY32" fmla="*/ 768617 h 1532055"/>
              <a:gd name="connsiteX33" fmla="*/ 435109 w 3021543"/>
              <a:gd name="connsiteY33" fmla="*/ 794979 h 1532055"/>
              <a:gd name="connsiteX34" fmla="*/ 457370 w 3021543"/>
              <a:gd name="connsiteY34" fmla="*/ 838116 h 1532055"/>
              <a:gd name="connsiteX35" fmla="*/ 476596 w 3021543"/>
              <a:gd name="connsiteY35" fmla="*/ 886046 h 1532055"/>
              <a:gd name="connsiteX36" fmla="*/ 517071 w 3021543"/>
              <a:gd name="connsiteY36" fmla="*/ 917200 h 1532055"/>
              <a:gd name="connsiteX37" fmla="*/ 202377 w 3021543"/>
              <a:gd name="connsiteY37" fmla="*/ 912407 h 1532055"/>
              <a:gd name="connsiteX38" fmla="*/ 557546 w 3021543"/>
              <a:gd name="connsiteY38" fmla="*/ 1013060 h 1532055"/>
              <a:gd name="connsiteX39" fmla="*/ 526178 w 3021543"/>
              <a:gd name="connsiteY39" fmla="*/ 1052602 h 1532055"/>
              <a:gd name="connsiteX40" fmla="*/ 720459 w 3021543"/>
              <a:gd name="connsiteY40" fmla="*/ 1106523 h 1532055"/>
              <a:gd name="connsiteX41" fmla="*/ 616236 w 3021543"/>
              <a:gd name="connsiteY41" fmla="*/ 1112514 h 1532055"/>
              <a:gd name="connsiteX42" fmla="*/ 1222353 w 3021543"/>
              <a:gd name="connsiteY42" fmla="*/ 1337785 h 1532055"/>
              <a:gd name="connsiteX43" fmla="*/ 2087511 w 3021543"/>
              <a:gd name="connsiteY43" fmla="*/ 1500747 h 1532055"/>
              <a:gd name="connsiteX44" fmla="*/ 2425479 w 3021543"/>
              <a:gd name="connsiteY44" fmla="*/ 1531901 h 1532055"/>
              <a:gd name="connsiteX45" fmla="*/ 2809994 w 3021543"/>
              <a:gd name="connsiteY45" fmla="*/ 1522315 h 1532055"/>
              <a:gd name="connsiteX46" fmla="*/ 2953618 w 3021543"/>
              <a:gd name="connsiteY46" fmla="*/ 1512448 h 1532055"/>
              <a:gd name="connsiteX47" fmla="*/ 3021543 w 3021543"/>
              <a:gd name="connsiteY47" fmla="*/ 1502657 h 1532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532055">
                <a:moveTo>
                  <a:pt x="3021543" y="0"/>
                </a:moveTo>
                <a:lnTo>
                  <a:pt x="2963800" y="7730"/>
                </a:lnTo>
                <a:cubicBezTo>
                  <a:pt x="2907134" y="14919"/>
                  <a:pt x="2850469" y="24506"/>
                  <a:pt x="2793803" y="25704"/>
                </a:cubicBezTo>
                <a:cubicBezTo>
                  <a:pt x="2667318" y="29298"/>
                  <a:pt x="2539821" y="20911"/>
                  <a:pt x="2414348" y="31695"/>
                </a:cubicBezTo>
                <a:cubicBezTo>
                  <a:pt x="2307089" y="41281"/>
                  <a:pt x="2198818" y="30497"/>
                  <a:pt x="2091558" y="29298"/>
                </a:cubicBezTo>
                <a:cubicBezTo>
                  <a:pt x="1942812" y="28100"/>
                  <a:pt x="1793053" y="19713"/>
                  <a:pt x="1645319" y="30497"/>
                </a:cubicBezTo>
                <a:cubicBezTo>
                  <a:pt x="1510738" y="38885"/>
                  <a:pt x="1376158" y="41281"/>
                  <a:pt x="1243602" y="64048"/>
                </a:cubicBezTo>
                <a:cubicBezTo>
                  <a:pt x="1079677" y="76030"/>
                  <a:pt x="916765" y="68841"/>
                  <a:pt x="753851" y="61651"/>
                </a:cubicBezTo>
                <a:cubicBezTo>
                  <a:pt x="653675" y="56858"/>
                  <a:pt x="554511" y="41281"/>
                  <a:pt x="465465" y="123960"/>
                </a:cubicBezTo>
                <a:cubicBezTo>
                  <a:pt x="489751" y="143132"/>
                  <a:pt x="519095" y="139537"/>
                  <a:pt x="546416" y="145529"/>
                </a:cubicBezTo>
                <a:cubicBezTo>
                  <a:pt x="594986" y="157511"/>
                  <a:pt x="643557" y="169493"/>
                  <a:pt x="689091" y="192260"/>
                </a:cubicBezTo>
                <a:cubicBezTo>
                  <a:pt x="699210" y="197053"/>
                  <a:pt x="708317" y="206639"/>
                  <a:pt x="704269" y="222217"/>
                </a:cubicBezTo>
                <a:cubicBezTo>
                  <a:pt x="701234" y="234199"/>
                  <a:pt x="691115" y="234199"/>
                  <a:pt x="683020" y="236595"/>
                </a:cubicBezTo>
                <a:cubicBezTo>
                  <a:pt x="664806" y="243785"/>
                  <a:pt x="642545" y="238992"/>
                  <a:pt x="621295" y="264155"/>
                </a:cubicBezTo>
                <a:cubicBezTo>
                  <a:pt x="702245" y="277336"/>
                  <a:pt x="780160" y="252172"/>
                  <a:pt x="848968" y="304896"/>
                </a:cubicBezTo>
                <a:cubicBezTo>
                  <a:pt x="823671" y="331257"/>
                  <a:pt x="795339" y="325266"/>
                  <a:pt x="768018" y="330059"/>
                </a:cubicBezTo>
                <a:cubicBezTo>
                  <a:pt x="739685" y="334852"/>
                  <a:pt x="712365" y="343240"/>
                  <a:pt x="684032" y="348032"/>
                </a:cubicBezTo>
                <a:cubicBezTo>
                  <a:pt x="653675" y="354023"/>
                  <a:pt x="623319" y="355222"/>
                  <a:pt x="592962" y="361213"/>
                </a:cubicBezTo>
                <a:cubicBezTo>
                  <a:pt x="567666" y="366006"/>
                  <a:pt x="540345" y="357618"/>
                  <a:pt x="509988" y="387575"/>
                </a:cubicBezTo>
                <a:cubicBezTo>
                  <a:pt x="584867" y="409143"/>
                  <a:pt x="652663" y="376790"/>
                  <a:pt x="726531" y="398359"/>
                </a:cubicBezTo>
                <a:cubicBezTo>
                  <a:pt x="683020" y="417531"/>
                  <a:pt x="647604" y="411539"/>
                  <a:pt x="614212" y="422324"/>
                </a:cubicBezTo>
                <a:cubicBezTo>
                  <a:pt x="583855" y="433108"/>
                  <a:pt x="547428" y="421126"/>
                  <a:pt x="522131" y="453478"/>
                </a:cubicBezTo>
                <a:cubicBezTo>
                  <a:pt x="502905" y="478641"/>
                  <a:pt x="482668" y="482236"/>
                  <a:pt x="457370" y="467857"/>
                </a:cubicBezTo>
                <a:cubicBezTo>
                  <a:pt x="435109" y="454676"/>
                  <a:pt x="410824" y="458271"/>
                  <a:pt x="388562" y="471452"/>
                </a:cubicBezTo>
                <a:cubicBezTo>
                  <a:pt x="380468" y="476245"/>
                  <a:pt x="372372" y="482236"/>
                  <a:pt x="372372" y="494218"/>
                </a:cubicBezTo>
                <a:cubicBezTo>
                  <a:pt x="372372" y="510994"/>
                  <a:pt x="382491" y="515787"/>
                  <a:pt x="393622" y="518184"/>
                </a:cubicBezTo>
                <a:cubicBezTo>
                  <a:pt x="403741" y="520580"/>
                  <a:pt x="415883" y="522977"/>
                  <a:pt x="426002" y="520580"/>
                </a:cubicBezTo>
                <a:cubicBezTo>
                  <a:pt x="490762" y="507399"/>
                  <a:pt x="554511" y="528968"/>
                  <a:pt x="619271" y="526571"/>
                </a:cubicBezTo>
                <a:cubicBezTo>
                  <a:pt x="415883" y="578096"/>
                  <a:pt x="210471" y="561321"/>
                  <a:pt x="0" y="579294"/>
                </a:cubicBezTo>
                <a:cubicBezTo>
                  <a:pt x="27321" y="615241"/>
                  <a:pt x="62737" y="585286"/>
                  <a:pt x="83986" y="611647"/>
                </a:cubicBezTo>
                <a:cubicBezTo>
                  <a:pt x="63748" y="666766"/>
                  <a:pt x="71844" y="696722"/>
                  <a:pt x="112319" y="700317"/>
                </a:cubicBezTo>
                <a:cubicBezTo>
                  <a:pt x="151782" y="703912"/>
                  <a:pt x="194281" y="684740"/>
                  <a:pt x="215531" y="750643"/>
                </a:cubicBezTo>
                <a:cubicBezTo>
                  <a:pt x="221602" y="771014"/>
                  <a:pt x="259042" y="765023"/>
                  <a:pt x="282315" y="768617"/>
                </a:cubicBezTo>
                <a:cubicBezTo>
                  <a:pt x="332909" y="777005"/>
                  <a:pt x="386539" y="768617"/>
                  <a:pt x="435109" y="794979"/>
                </a:cubicBezTo>
                <a:cubicBezTo>
                  <a:pt x="454335" y="804565"/>
                  <a:pt x="467489" y="811754"/>
                  <a:pt x="457370" y="838116"/>
                </a:cubicBezTo>
                <a:cubicBezTo>
                  <a:pt x="447252" y="865675"/>
                  <a:pt x="460406" y="875261"/>
                  <a:pt x="476596" y="886046"/>
                </a:cubicBezTo>
                <a:cubicBezTo>
                  <a:pt x="488739" y="894433"/>
                  <a:pt x="506953" y="892037"/>
                  <a:pt x="517071" y="917200"/>
                </a:cubicBezTo>
                <a:cubicBezTo>
                  <a:pt x="410824" y="913605"/>
                  <a:pt x="307612" y="893235"/>
                  <a:pt x="202377" y="912407"/>
                </a:cubicBezTo>
                <a:cubicBezTo>
                  <a:pt x="317731" y="960337"/>
                  <a:pt x="444216" y="957940"/>
                  <a:pt x="557546" y="1013060"/>
                </a:cubicBezTo>
                <a:cubicBezTo>
                  <a:pt x="553499" y="1032232"/>
                  <a:pt x="527190" y="1023844"/>
                  <a:pt x="526178" y="1052602"/>
                </a:cubicBezTo>
                <a:cubicBezTo>
                  <a:pt x="585879" y="1082558"/>
                  <a:pt x="657723" y="1062188"/>
                  <a:pt x="720459" y="1106523"/>
                </a:cubicBezTo>
                <a:cubicBezTo>
                  <a:pt x="684032" y="1126893"/>
                  <a:pt x="650640" y="1093342"/>
                  <a:pt x="616236" y="1112514"/>
                </a:cubicBezTo>
                <a:cubicBezTo>
                  <a:pt x="627367" y="1141273"/>
                  <a:pt x="1131283" y="1318613"/>
                  <a:pt x="1222353" y="1337785"/>
                </a:cubicBezTo>
                <a:cubicBezTo>
                  <a:pt x="1407527" y="1377327"/>
                  <a:pt x="1940788" y="1477980"/>
                  <a:pt x="2087511" y="1500747"/>
                </a:cubicBezTo>
                <a:cubicBezTo>
                  <a:pt x="2200841" y="1517522"/>
                  <a:pt x="2313160" y="1530703"/>
                  <a:pt x="2425479" y="1531901"/>
                </a:cubicBezTo>
                <a:cubicBezTo>
                  <a:pt x="2553988" y="1533099"/>
                  <a:pt x="2681485" y="1527108"/>
                  <a:pt x="2809994" y="1522315"/>
                </a:cubicBezTo>
                <a:cubicBezTo>
                  <a:pt x="2858058" y="1520518"/>
                  <a:pt x="2905933" y="1517372"/>
                  <a:pt x="2953618" y="1512448"/>
                </a:cubicBezTo>
                <a:lnTo>
                  <a:pt x="3021543" y="1502657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244412-D46D-FF5D-9C2F-10B377B64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838199"/>
            <a:ext cx="3143250" cy="5338763"/>
          </a:xfrm>
        </p:spPr>
        <p:txBody>
          <a:bodyPr>
            <a:normAutofit/>
          </a:bodyPr>
          <a:lstStyle/>
          <a:p>
            <a:r>
              <a:rPr lang="en-US"/>
              <a:t>Summary of Preliminary Data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369D1E-5949-7EA1-B3B6-267A1F54C6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6749" y="838199"/>
            <a:ext cx="4538601" cy="5338763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600" b="1" dirty="0"/>
              <a:t>Preliminary Findings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600" b="1" dirty="0"/>
              <a:t>Data Overview</a:t>
            </a:r>
          </a:p>
          <a:p>
            <a:pPr>
              <a:lnSpc>
                <a:spcPct val="90000"/>
              </a:lnSpc>
            </a:pPr>
            <a:r>
              <a:rPr lang="en-US" sz="1600" b="1" dirty="0"/>
              <a:t>Sample size:</a:t>
            </a:r>
            <a:r>
              <a:rPr lang="en-US" sz="1600" dirty="0"/>
              <a:t> N = 30 (preliminary dataset) </a:t>
            </a:r>
          </a:p>
          <a:p>
            <a:pPr>
              <a:lnSpc>
                <a:spcPct val="90000"/>
              </a:lnSpc>
            </a:pPr>
            <a:r>
              <a:rPr lang="en-US" sz="1600" b="1" dirty="0"/>
              <a:t>Outcomes:</a:t>
            </a:r>
            <a:r>
              <a:rPr lang="en-US" sz="1600" dirty="0"/>
              <a:t> </a:t>
            </a:r>
          </a:p>
          <a:p>
            <a:pPr lvl="1">
              <a:lnSpc>
                <a:spcPct val="90000"/>
              </a:lnSpc>
            </a:pPr>
            <a:r>
              <a:rPr lang="en-US" sz="1600" dirty="0"/>
              <a:t>Memory change (CVLT_CNG3) </a:t>
            </a:r>
          </a:p>
          <a:p>
            <a:pPr lvl="1">
              <a:lnSpc>
                <a:spcPct val="90000"/>
              </a:lnSpc>
            </a:pPr>
            <a:r>
              <a:rPr lang="en-US" sz="1600" dirty="0"/>
              <a:t>Cortical thickness change (CORT_CNG3) </a:t>
            </a:r>
          </a:p>
          <a:p>
            <a:pPr>
              <a:lnSpc>
                <a:spcPct val="90000"/>
              </a:lnSpc>
            </a:pPr>
            <a:r>
              <a:rPr lang="en-US" sz="1600" b="1" dirty="0"/>
              <a:t>Predictors:</a:t>
            </a:r>
            <a:r>
              <a:rPr lang="en-US" sz="1600" dirty="0"/>
              <a:t> </a:t>
            </a:r>
          </a:p>
          <a:p>
            <a:pPr lvl="1">
              <a:lnSpc>
                <a:spcPct val="90000"/>
              </a:lnSpc>
            </a:pPr>
            <a:r>
              <a:rPr lang="en-US" sz="1600" dirty="0"/>
              <a:t>IL-6, MCP-1 (inflammatory markers) </a:t>
            </a:r>
          </a:p>
          <a:p>
            <a:pPr marL="0" indent="0">
              <a:lnSpc>
                <a:spcPct val="90000"/>
              </a:lnSpc>
              <a:buNone/>
            </a:pPr>
            <a:endParaRPr lang="en-US" sz="16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600" b="1" dirty="0"/>
              <a:t>Data Characteristics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Outcomes: approximately symmetric 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Relationships: approximately linear </a:t>
            </a:r>
          </a:p>
          <a:p>
            <a:pPr marL="0" indent="0">
              <a:lnSpc>
                <a:spcPct val="90000"/>
              </a:lnSpc>
              <a:buNone/>
            </a:pPr>
            <a:br>
              <a:rPr lang="en-US" sz="1600" dirty="0"/>
            </a:br>
            <a:endParaRPr lang="en-US" sz="16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600" b="1" dirty="0"/>
              <a:t>Key Findings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Memory: modest associations (</a:t>
            </a:r>
            <a:r>
              <a:rPr lang="en-US" sz="1600" i="1" dirty="0"/>
              <a:t>r = -0.26 to -0.32</a:t>
            </a:r>
            <a:r>
              <a:rPr lang="en-US" sz="1600" dirty="0"/>
              <a:t>) 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Cortex: stronger associations (</a:t>
            </a:r>
            <a:r>
              <a:rPr lang="en-US" sz="1600" i="1" dirty="0"/>
              <a:t>r = -0.60 to -0.69</a:t>
            </a:r>
            <a:r>
              <a:rPr lang="en-US" sz="1600" dirty="0"/>
              <a:t>) 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IL-6 &amp; MCP-1 highly correlated (</a:t>
            </a:r>
            <a:r>
              <a:rPr lang="en-US" sz="1600" i="1" dirty="0"/>
              <a:t>r = 0.93</a:t>
            </a:r>
            <a:r>
              <a:rPr lang="en-US" sz="1600" dirty="0"/>
              <a:t>) → collinearity</a:t>
            </a:r>
          </a:p>
          <a:p>
            <a:pPr>
              <a:lnSpc>
                <a:spcPct val="90000"/>
              </a:lnSpc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033393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341754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334896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40C083-3A54-7ED8-A90D-46D074A50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320" y="1161288"/>
            <a:ext cx="2578608" cy="1239012"/>
          </a:xfrm>
        </p:spPr>
        <p:txBody>
          <a:bodyPr anchor="ctr">
            <a:normAutofit/>
          </a:bodyPr>
          <a:lstStyle/>
          <a:p>
            <a:r>
              <a:rPr lang="en-US" sz="2400"/>
              <a:t>Aim 1: Power Analysis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96012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6919" y="2443480"/>
            <a:ext cx="25374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2171823-5AB7-9898-3989-70300E136B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320" y="2718054"/>
            <a:ext cx="3056576" cy="3207258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pt-BR" sz="1200"/>
              <a:t>Method: corr1.samp</a:t>
            </a:r>
          </a:p>
          <a:p>
            <a:pPr marL="0" indent="0">
              <a:buNone/>
            </a:pPr>
            <a:r>
              <a:rPr lang="pt-BR" sz="1200"/>
              <a:t>Assumptions:</a:t>
            </a:r>
          </a:p>
          <a:p>
            <a:pPr marL="171450" indent="-114300"/>
            <a:r>
              <a:rPr lang="pt-BR" sz="1200" b="1"/>
              <a:t>N = 175</a:t>
            </a:r>
            <a:r>
              <a:rPr lang="pt-BR" sz="1200"/>
              <a:t>, α = </a:t>
            </a:r>
            <a:r>
              <a:rPr lang="pt-BR" sz="1200" b="1"/>
              <a:t>0.05 </a:t>
            </a:r>
          </a:p>
          <a:p>
            <a:pPr marL="171450" indent="-114300"/>
            <a:r>
              <a:rPr lang="pt-BR" sz="1200"/>
              <a:t>Memory: </a:t>
            </a:r>
            <a:r>
              <a:rPr lang="pt-BR" sz="1200" b="1"/>
              <a:t>r = 0.20–0.30</a:t>
            </a:r>
            <a:r>
              <a:rPr lang="pt-BR" sz="1200"/>
              <a:t> </a:t>
            </a:r>
          </a:p>
          <a:p>
            <a:pPr marL="171450" indent="-114300"/>
            <a:r>
              <a:rPr lang="pt-BR" sz="1200"/>
              <a:t>Cortex: </a:t>
            </a:r>
            <a:r>
              <a:rPr lang="pt-BR" sz="1200" b="1"/>
              <a:t>r = 0.50–0.65</a:t>
            </a:r>
          </a:p>
          <a:p>
            <a:pPr marL="171450" indent="-171450">
              <a:buNone/>
            </a:pPr>
            <a:r>
              <a:rPr lang="en-US" sz="1200" b="1"/>
              <a:t>Results</a:t>
            </a:r>
          </a:p>
          <a:p>
            <a:pPr marL="171450" indent="-114300"/>
            <a:r>
              <a:rPr lang="en-US" sz="1200"/>
              <a:t>Memory: </a:t>
            </a:r>
            <a:r>
              <a:rPr lang="en-US" sz="1200" b="1"/>
              <a:t>Power = 0.76–0.98</a:t>
            </a:r>
            <a:r>
              <a:rPr lang="en-US" sz="1200"/>
              <a:t> </a:t>
            </a:r>
          </a:p>
          <a:p>
            <a:pPr marL="171450" indent="-114300"/>
            <a:r>
              <a:rPr lang="en-US" sz="1200"/>
              <a:t>Cortex: </a:t>
            </a:r>
            <a:r>
              <a:rPr lang="en-US" sz="1200" b="1"/>
              <a:t>Power ≈ 1.00</a:t>
            </a:r>
            <a:endParaRPr lang="en-US" sz="1200"/>
          </a:p>
          <a:p>
            <a:pPr marL="0" indent="0">
              <a:buNone/>
            </a:pPr>
            <a:endParaRPr lang="pt-BR" sz="1200"/>
          </a:p>
          <a:p>
            <a:pPr marL="0" indent="0">
              <a:buNone/>
            </a:pPr>
            <a:endParaRPr lang="pt-BR" sz="12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Adequate power for </a:t>
            </a:r>
            <a:r>
              <a:rPr lang="en-US" sz="1200" b="1"/>
              <a:t>moderate effects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Higher power for cortical thickness</a:t>
            </a:r>
          </a:p>
          <a:p>
            <a:pPr marL="0" indent="0">
              <a:buNone/>
            </a:pPr>
            <a:endParaRPr lang="en-US" sz="15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67AF3E3-6DF2-8C88-E81E-D5613F72AA0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5888" y="1623330"/>
            <a:ext cx="5191506" cy="3711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265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C9A9DA9-7DC8-488B-A882-123947B0F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181" y="633619"/>
            <a:ext cx="3209537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F3FCCB-3FA3-CE7C-9BA3-0BB7598FA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5" y="978619"/>
            <a:ext cx="2558034" cy="1106424"/>
          </a:xfrm>
        </p:spPr>
        <p:txBody>
          <a:bodyPr>
            <a:normAutofit/>
          </a:bodyPr>
          <a:lstStyle/>
          <a:p>
            <a:r>
              <a:rPr lang="en-US" sz="2400" dirty="0"/>
              <a:t>Aim 2: Power Analysis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9175" y="1171300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A865FE3-5FC9-4049-87CF-30019C46C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8094" y="2093976"/>
            <a:ext cx="2496312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0B760C1-FA9C-B5F2-BE6C-91CC807E8FF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0480" y="1924607"/>
            <a:ext cx="4992624" cy="2908201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0234D75F-A930-5225-5F33-64E718756C0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0988" y="2093976"/>
            <a:ext cx="2496312" cy="4315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Method </a:t>
            </a:r>
          </a:p>
          <a:p>
            <a:pPr marL="114300" marR="0" lvl="0" indent="-1143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corr.2samp </a:t>
            </a:r>
          </a:p>
          <a:p>
            <a:pPr marL="114300" marR="0" lvl="0" indent="-1143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Interaction : difference in correlations between amyloid groups </a:t>
            </a:r>
          </a:p>
          <a:p>
            <a:pPr marL="114300" marR="0" lvl="0" indent="-1143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Amyloid: </a:t>
            </a: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SUVR ≥ 1.10 vs &lt; 1.10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Assumptions: </a:t>
            </a:r>
          </a:p>
          <a:p>
            <a:pPr marL="114300" indent="-11430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Baseline: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-0.10 (memory), -0.25 (cortex)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</a:p>
          <a:p>
            <a:pPr marL="114300" indent="-11430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Δρ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0.15, 0.25, 0.35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</a:p>
          <a:p>
            <a:pPr marL="114300" indent="-11430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Group balance: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50/50 to 70/30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200" b="1" dirty="0">
              <a:latin typeface="+mj-lt"/>
            </a:endParaRPr>
          </a:p>
          <a:p>
            <a:pPr marL="0" indent="0">
              <a:buNone/>
            </a:pPr>
            <a:r>
              <a:rPr lang="en-US" sz="1200" b="1" dirty="0">
                <a:latin typeface="+mj-lt"/>
              </a:rPr>
              <a:t>Results</a:t>
            </a:r>
          </a:p>
          <a:p>
            <a:pPr marL="114300" indent="-114300"/>
            <a:r>
              <a:rPr lang="en-US" sz="1200" dirty="0">
                <a:latin typeface="+mj-lt"/>
              </a:rPr>
              <a:t>Memory: </a:t>
            </a:r>
            <a:r>
              <a:rPr lang="en-US" sz="1200" b="1" dirty="0">
                <a:latin typeface="+mj-lt"/>
              </a:rPr>
              <a:t>Power = 0.17–0.63</a:t>
            </a:r>
            <a:r>
              <a:rPr lang="en-US" sz="1200" dirty="0">
                <a:latin typeface="+mj-lt"/>
              </a:rPr>
              <a:t> </a:t>
            </a:r>
          </a:p>
          <a:p>
            <a:pPr marL="114300" indent="-114300"/>
            <a:r>
              <a:rPr lang="en-US" sz="1200" dirty="0">
                <a:latin typeface="+mj-lt"/>
              </a:rPr>
              <a:t>Cortex: </a:t>
            </a:r>
            <a:r>
              <a:rPr lang="en-US" sz="1200" b="1" dirty="0">
                <a:latin typeface="+mj-lt"/>
              </a:rPr>
              <a:t>Power = 0.19–0.82</a:t>
            </a:r>
          </a:p>
          <a:p>
            <a:pPr marL="114300" indent="-114300"/>
            <a:endParaRPr lang="en-US" sz="1200" b="1" dirty="0">
              <a:latin typeface="+mj-lt"/>
            </a:endParaRPr>
          </a:p>
          <a:p>
            <a:pPr marL="114300" indent="-114300"/>
            <a:endParaRPr lang="en-US" sz="1200" dirty="0">
              <a:latin typeface="+mj-lt"/>
            </a:endParaRPr>
          </a:p>
          <a:p>
            <a:pPr marL="114300" indent="-114300"/>
            <a:endParaRPr lang="en-US" sz="1200" dirty="0"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E3C01BEB-D1AC-61BF-53B3-1B5345B3B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692" y="5153713"/>
            <a:ext cx="254890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latin typeface="+mj-lt"/>
              </a:rPr>
              <a:t>Power ↑ with effect size &amp; balance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b="1" dirty="0">
                <a:latin typeface="+mj-lt"/>
              </a:rPr>
              <a:t>Moderate–large effects detectable</a:t>
            </a:r>
            <a:r>
              <a:rPr lang="en-US" altLang="en-US" sz="1200" dirty="0">
                <a:latin typeface="+mj-lt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latin typeface="+mj-lt"/>
              </a:rPr>
              <a:t>Limited power for small interactions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63266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23E7F-0C5B-122A-E207-24992FC88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Implications and Limitation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6518E-95B6-2A7F-EB50-AE58FE93A1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7750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b="1" dirty="0"/>
              <a:t>Implications</a:t>
            </a:r>
          </a:p>
          <a:p>
            <a:r>
              <a:rPr lang="en-US" dirty="0"/>
              <a:t>Inflammation is linked to cognitive decline and neurodegeneration </a:t>
            </a:r>
          </a:p>
          <a:p>
            <a:r>
              <a:rPr lang="en-US" dirty="0"/>
              <a:t>Stronger effects for cortical thickness </a:t>
            </a:r>
          </a:p>
          <a:p>
            <a:r>
              <a:rPr lang="en-US" dirty="0"/>
              <a:t>Evidence supports interaction:</a:t>
            </a:r>
            <a:br>
              <a:rPr lang="en-US" dirty="0"/>
            </a:br>
            <a:r>
              <a:rPr lang="en-US" dirty="0"/>
              <a:t>    </a:t>
            </a:r>
            <a:r>
              <a:rPr lang="en-US" i="1" dirty="0"/>
              <a:t>greater impact when amyloid is elevated</a:t>
            </a:r>
            <a:r>
              <a:rPr lang="en-US" dirty="0"/>
              <a:t> 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Limitations</a:t>
            </a:r>
          </a:p>
          <a:p>
            <a:r>
              <a:rPr lang="en-US" dirty="0"/>
              <a:t>Limited power for small interaction effects </a:t>
            </a:r>
          </a:p>
          <a:p>
            <a:r>
              <a:rPr lang="en-US" dirty="0"/>
              <a:t>Preliminary data (</a:t>
            </a:r>
            <a:r>
              <a:rPr lang="en-US" b="1" dirty="0"/>
              <a:t>N = 30</a:t>
            </a:r>
            <a:r>
              <a:rPr lang="en-US" dirty="0"/>
              <a:t>) </a:t>
            </a:r>
          </a:p>
          <a:p>
            <a:r>
              <a:rPr lang="en-US" dirty="0"/>
              <a:t>High collinearity among markers </a:t>
            </a:r>
          </a:p>
          <a:p>
            <a:r>
              <a:rPr lang="en-US" dirty="0"/>
              <a:t>Amyloid dichotomization simplifies continuous biology 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Inference Strategy</a:t>
            </a:r>
          </a:p>
          <a:p>
            <a:r>
              <a:rPr lang="en-US" dirty="0"/>
              <a:t>Analyses at </a:t>
            </a:r>
            <a:r>
              <a:rPr lang="en-US" b="1" dirty="0"/>
              <a:t>α = 0.05 (two-sided)</a:t>
            </a:r>
            <a:r>
              <a:rPr lang="en-US" dirty="0"/>
              <a:t> </a:t>
            </a:r>
          </a:p>
          <a:p>
            <a:r>
              <a:rPr lang="en-US" dirty="0"/>
              <a:t>No multiple-testing correction (pre-specified, correlated markers) </a:t>
            </a:r>
          </a:p>
          <a:p>
            <a:r>
              <a:rPr lang="en-US" dirty="0"/>
              <a:t>Focus on: </a:t>
            </a:r>
          </a:p>
          <a:p>
            <a:pPr lvl="1"/>
            <a:r>
              <a:rPr lang="en-US" dirty="0"/>
              <a:t>effect sizes &amp; confidence intervals </a:t>
            </a:r>
          </a:p>
          <a:p>
            <a:pPr lvl="1"/>
            <a:r>
              <a:rPr lang="en-US" dirty="0"/>
              <a:t>consistency across markers and outcomes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9393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532</Words>
  <Application>Microsoft Office PowerPoint</Application>
  <PresentationFormat>On-screen Show (4:3)</PresentationFormat>
  <Paragraphs>112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Peripheral Inflammation, Amyloid Pathology, and Cognitive Decline</vt:lpstr>
      <vt:lpstr>Aim 1: Analysis Approach</vt:lpstr>
      <vt:lpstr>Aim 2: Analysis Approach</vt:lpstr>
      <vt:lpstr>Summary of Preliminary Data</vt:lpstr>
      <vt:lpstr>Aim 1: Power Analysis</vt:lpstr>
      <vt:lpstr>Aim 2: Power Analysis</vt:lpstr>
      <vt:lpstr>Implications and Limitation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Mojde Mir</dc:creator>
  <cp:keywords/>
  <dc:description>generated using python-pptx</dc:description>
  <cp:lastModifiedBy>Mojde Mir</cp:lastModifiedBy>
  <cp:revision>43</cp:revision>
  <dcterms:created xsi:type="dcterms:W3CDTF">2013-01-27T09:14:16Z</dcterms:created>
  <dcterms:modified xsi:type="dcterms:W3CDTF">2026-03-30T06:02:16Z</dcterms:modified>
  <cp:category/>
</cp:coreProperties>
</file>